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27"/>
    <p:sldId id="258" r:id="rId4"/>
    <p:sldId id="259" r:id="rId5"/>
    <p:sldId id="277" r:id="rId28"/>
    <p:sldId id="278" r:id="rId29"/>
    <p:sldId id="279" r:id="rId30"/>
    <p:sldId id="260" r:id="rId6"/>
    <p:sldId id="261" r:id="rId7"/>
    <p:sldId id="280" r:id="rId31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32"/>
    <p:sldId id="271" r:id="rId17"/>
    <p:sldId id="272" r:id="rId18"/>
    <p:sldId id="274" r:id="rId20"/>
    <p:sldId id="282" r:id="rId33"/>
    <p:sldId id="275" r:id="rId21"/>
    <p:sldId id="283" r:id="rId34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가설 모두 예비 분석 단계에서 기각되었음을 다음 슬라이드에서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 자료의 생성 흔적이며 자료의 오류가 아님. 발표 시 "데이터가 잘못되었다"는 표현은 사용하지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전역 검정만으로는 결함이 드러나지 않음. 우도는 y로 조건을 건 분포이므로 조건부 검정이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 우도는 평균만 이동하고 형태는 고정되는 모형이므로 세 가지 변동을 원리적으로 수용할 수 없음. 모수 조정이 아니라 모형족의 교체가 요구됨.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절은 질의응답 대응용. 전처리 미수행은 자발적으로 먼저 제시하지 않고 Data Leakage 관련 질의 시 근거로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34440"/>
            <a:ext cx="4663440" cy="4663440"/>
          </a:xfrm>
          <a:prstGeom prst="ellipse">
            <a:avLst/>
          </a:prstGeom>
          <a:solidFill>
            <a:srgbClr val="1D4ED8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-640080"/>
            <a:ext cx="3108960" cy="310896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47548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475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DACON · AI HEALTHCARE 6기 해커톤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3268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스트레스 지수 예측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0784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해커톤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334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복원 기반 베이즈 역추정을 통한 스트레스 지수 추정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 분포 가정의 진단적 검증 및 단계적 개선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9584"/>
            <a:ext cx="2395728" cy="877824"/>
          </a:xfrm>
          <a:prstGeom prst="roundRect">
            <a:avLst>
              <a:gd name="adj" fmla="val 625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0.12264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성적 · Public MAE (v5)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608576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04672" y="4590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 프린트("4조")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김종민 · 배수빈 · 한승수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590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344" y="13350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6344" y="1609344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정의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344" y="2066544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가설·검정 용어 및 확률 모형 용어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207008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328416" y="13350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1609344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정의 및 변수 설계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28416" y="2066544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 · 독립 · 잠재변수의 조작적 정의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207008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190488" y="13350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90488" y="1609344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설정 및 검정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90488" y="2066544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 → 진술 → 검정 → 기각의 전 과정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66344" y="29992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" y="327355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전환점과 역설계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" y="3730752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 실패 → 데이터 점검 · 개체 복원 · 분할 편향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2871216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3328416" y="29992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28416" y="327355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정규성 진단과 비모수 우도 도입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328416" y="3730752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가정의 검정과 우도의 교체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44184" y="2871216"/>
            <a:ext cx="2706624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190488" y="29992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190488" y="327355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및 고찰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190488" y="3730752"/>
            <a:ext cx="2414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버전별 개선 경과 · 규정 준수 · 재현성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59028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02920" y="459028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평가지표 MAE  ·  train 3,000 / test 3,000  ·  private 세트 부재 (public = test 100%)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5902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정의 ② — 확률 모형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발표에서 많이 사용되는 확률 용어를 사전에 정의합니다.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" y="19842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복원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8056" y="21945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Linkage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709928" y="1938528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행이 동일 개체의 기록임을 식별하는 절차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99432" y="1938528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727448" y="19842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945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1938528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P(관측 | y). 종속변수가 특정 값일 때 해당 관측이 발생할 확률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48056" y="25511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사전분포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" y="27614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505456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관측을 반영하기 이전 단계의 종속변수 확률분포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99432" y="2505456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727448" y="25511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사후분포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27614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505456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사전분포 × 우도. 관측을 반영한 후의 확률분포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48056" y="31181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중앙값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" y="33284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Median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1709928" y="3072384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사후분포의 누적확률 0.5 지점. MAE를 최소화하는 점추정량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99432" y="3072384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727448" y="31181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역문제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727448" y="33284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Problem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072384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과정을 먼저 추정하고 관측으로부터 원인을 역추정하는 접근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448056" y="36850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48056" y="3895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1709928" y="3639312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개체의 2개 기록 중 train 에 포함된 개수 (0 / 1 / 2)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599432" y="3639312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727448" y="36850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편향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727448" y="3895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Bias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3639312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분할이 종속변수에 의존하는 현상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20040" y="4206240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448056" y="42519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추정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48056" y="44622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Nonparametric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1709928" y="4206240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함수 형태를 가정하지 않고 데이터에서 직접 추정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599432" y="4206240"/>
            <a:ext cx="4224528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4727448" y="42519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 가중  τ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727448" y="44622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Tempering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5989320" y="4206240"/>
            <a:ext cx="2706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우도항에 부여하는 지수 가중 계수. τ = 0 이면 해당 항 미사용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정의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 · 생활습관 · 근로 정보로 개인의 스트레스 지수를 추정하는 회귀 과제입니다.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평가지표 MAE와 0.01 격자 구조가 최종 추정량의 형태를 결정합니다.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4160520" cy="1335024"/>
          </a:xfrm>
          <a:prstGeom prst="roundRect">
            <a:avLst>
              <a:gd name="adj" fmla="val 342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6344" y="2011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  DEPENDENT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" y="228600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stress_score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" y="2615184"/>
            <a:ext cx="3867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연속형 · 구간 [0, 1] · 0.01 격자 (가능한 값 101개) · 결측 0건</a:t>
            </a:r>
            <a:endParaRPr lang="en-US" sz="10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평균 0.4821 · 중앙값 0.48 → 분류가 아닌 회귀 과제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83664"/>
            <a:ext cx="4160520" cy="1335024"/>
          </a:xfrm>
          <a:prstGeom prst="roundRect">
            <a:avLst>
              <a:gd name="adj" fmla="val 342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09744" y="2011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평가지표  METRIC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28600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2615184"/>
            <a:ext cx="3867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(1/n) Σ |예측 − 정답|. 최소화 점추정량은 평균이 아닌 중앙값</a:t>
            </a:r>
            <a:endParaRPr lang="en-US" sz="10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최종 추정량을 사후 중앙값으로 설정하는 근거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3346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및 평가 구조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270662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48056" y="362102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규모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655064" y="36210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3,000행 · test 3,000행 (계 6,000행)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182112" y="3621024"/>
            <a:ext cx="270662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310128" y="362102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표본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17136" y="36210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= test 100% · private 세트 부재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044184" y="3621024"/>
            <a:ext cx="270662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172200" y="362102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조건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379208" y="36210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 4회 · 제출본 선택 가능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416052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48056" y="405993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추정의 실질 규모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655064" y="40599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추정 대상 1,548행 · LB = 0.516 × 모델 MAE (13장에서 도출)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983480" y="4059936"/>
            <a:ext cx="4160520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5111496" y="405993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격자 구조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318504" y="40599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 후보 101개 → 격자 사후분포 산출이 가능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502920" y="457200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종속변수의 0.01 격자 구조와 MAE 지표가 결합되어 “101개 후보의 사후 중앙값”이라는 최종 형태를 규정함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4572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정의는 다음 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STATEMENT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진술과 검정 설계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가설을 기각 가능한 귀무가설 형태로 진술하고, 검정 방법과 판정 기준을 진술 단계에서 함께 고정하였습니다.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2706624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6344" y="20848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A   (A-1 · A-2)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" y="235915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 요인 → 스트레스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" y="290779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  근로시간 (mean_working)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  수면의 질 (sleep_pattern)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r = 0 · 범주 간 차이 = 0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: Pearson r + 순열검정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1956816"/>
            <a:ext cx="2706624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328416" y="20848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B   (B-1 · B-2)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28416" y="235915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활동량 · 흡연 → 신체 건강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스트레스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290779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  활동량 (activity)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  흡연 (smoke_status)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범주 간 E[y] 차이 = 0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: 순열검정 (10,000회)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956816"/>
            <a:ext cx="2706624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190488" y="20848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C   (C-1 · C-2 · C-3)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90488" y="235915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혈압 · 혈당 · 지질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스트레스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90488" y="2907792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  혈압 (sbp · dbp)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C-2  혈당 (glucose) · C-3  지질 (cholesterol)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r = 0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: Pearson r + 순열검정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859536"/>
          </a:xfrm>
          <a:prstGeom prst="roundRect">
            <a:avLst>
              <a:gd name="adj" fmla="val 63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0292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기준 — 진술과 동시에 고정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1148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연관성 : 순열검정 p &lt; 0.05 (다중검정 보정 후 생존)  ·  ② 예측력 : 개체 단위 5-fold CV MAE 가 상수 예측(0.2494) 대비 개선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채택 : 개선폭 &gt; 2 × SE  ·  ④ 하위가설 7개 모두 기각 시 자료 생성 구조 검토로 전환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TEST RESULT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 결과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170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독립변수–종속변수 상관계수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5544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상관계수 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mean_working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유일한 유의 신호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diastolic_blood_pressure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정보량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정보량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bone_density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정보량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/ sbp / weight / glucose / height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&lt; 0.03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정보량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범주형 7개 전체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0.433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정보량 부재 (순열검정)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0" y="11704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단위 교차검증 MAE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0" y="1444752"/>
            <a:ext cx="333756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596128" y="14447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상수 예측 (중앙값 0.48)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223760" y="1545336"/>
            <a:ext cx="91440" cy="128016"/>
          </a:xfrm>
          <a:prstGeom prst="roundRect">
            <a:avLst>
              <a:gd name="adj" fmla="val 7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065008" y="144475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828800"/>
            <a:ext cx="333756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596128" y="18288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223760" y="1929384"/>
            <a:ext cx="91440" cy="128016"/>
          </a:xfrm>
          <a:prstGeom prst="roundRect">
            <a:avLst>
              <a:gd name="adj" fmla="val 7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065008" y="18288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212848"/>
            <a:ext cx="333756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596128" y="22128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223760" y="2313432"/>
            <a:ext cx="219730" cy="12801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065008" y="221284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0.2470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2596896"/>
            <a:ext cx="333756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596128" y="25968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223760" y="2697480"/>
            <a:ext cx="502829" cy="12801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065008" y="25968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0.2439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0" y="2980944"/>
            <a:ext cx="333756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5596128" y="2980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223760" y="3081528"/>
            <a:ext cx="649315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065008" y="29809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0.2423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0040" y="3493008"/>
            <a:ext cx="8503920" cy="932688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502920" y="3529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 요약 — 하위가설 7개 중 통과 1개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7673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통과 : A-1 의 mean_working (r = +0.1834) — 가설 A 의 변수 2개 중 1개만 통과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기각 : A-2 (수면 매개) · B-1 · B-2 · C-1 · C-2 · C-3 — 범주형 7개는 순열검정 p = 0.433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예측력 기준에서도 기각 (LightGBM 0.2423 vs 상수 예측 0.2494) · 통과한 1개도 잡음 sd 1.59 &gt; 신호 sd 0.85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0040" y="4535424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502920" y="453542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사전에 정의한 대로 “모형의 한계”가 아닌 “자료 구조의 문제”로 판단하고, 자료 생성 구조의 규명으로 전환함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전수 점검 — 생성 흔적 3종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2252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설정 당시의 기대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8132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근로시간 · 수면 · 활동량 · 혈압이 스트레스와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부분적으로 연관 (r = 0.05~0.15 수준)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160520" cy="1170432"/>
          </a:xfrm>
          <a:prstGeom prst="roundRect">
            <a:avLst>
              <a:gd name="adj" fmla="val 468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846320" y="12252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검정의 결과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8132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 중 1개만 유의, 나머지 15개는 |r| &lt; 0.03.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“관계가 약하다”가 아니라 “연결되지 않았다”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8503920" cy="676656"/>
          </a:xfrm>
          <a:prstGeom prst="roundRect">
            <a:avLst>
              <a:gd name="adj" fmla="val 8108"/>
            </a:avLst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2505456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가설의 전환 :  본 자료는 특정 절차로 생성된 합성 자료이며, 그 흔적이 자료 내에 잔존한다.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데이터 오류 의심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32552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6,000행 전수 비교로 확인된 생성 흔적 3종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270662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66344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 생성 흔적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" y="39319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레코드 774쌍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" y="42428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종속변수까지 100% 일치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단일 개체를 2행으로 복제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51176" y="3584448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551176" y="35844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82112" y="3529584"/>
            <a:ext cx="270662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328416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 생성 흔적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28416" y="39319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편향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328416" y="42428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E[y|Z=2] 0.4617 vs E[y|Z=1] 0.5040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분할 시 종속변수를 참조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13248" y="3584448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413248" y="35844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44184" y="3529584"/>
            <a:ext cx="270662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190488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 생성 흔적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90488" y="39319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 순서 비대칭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0488" y="42428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기록의 근로시간이 y와 2배 강한 연관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0.228 vs 0.109)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75320" y="3584448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275320" y="35844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복원 및 표본 구조의 규명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내부에서 미세오차만 다른 중복 레코드 774쌍을 탐지하였고, 각 쌍의 종속변수는 774/774 완전 일치하였습니다.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실측한 미세오차 폭을 허용오차로 6,000행을 맞춰본 결과, 모든 행이 짝을 정확히 하나씩 찾았습니다 — 짝이 없거나 둘 이상인 행 0건.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581912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78024" y="1920240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60604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36008" y="1920240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764024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0.13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93992" y="1920240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922008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055864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22576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48056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혈압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581912" y="23225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78024" y="2322576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606040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739896" y="23225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0.19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36008" y="2322576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764024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bone_density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23225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93992" y="2322576"/>
            <a:ext cx="2029968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922008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7개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055864" y="23225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동일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3464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914400"/>
                <a:gridCol w="914400"/>
                <a:gridCol w="3840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 유형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 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분석상의 의미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 기록 모두 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 모수 추정의 학습 표본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1 + test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대응 기록의 종속변수를 직접 이용 → 오차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 기록 모두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종속변수 미관측 → 추정 대상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320040" y="4279392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MAE  =  ( 0 × 1,452  +  모델MAE × 1,548 ) / 3,000  =  0.516 × 모델MAE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표본의 절반이 오차 0으로 산입되므로 모형 개선분이 리더보드 점수에서 약 1/2로 희석됨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BIAS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편향의 정량화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수준별 종속변수 평균에서 체계적 차이가 관찰되었습니다 :  E[y|Z=2] = 0.4617,  E[y|Z=1] = 0.5040.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이는 종속변수가 낮은 개체일수록 train 으로 배정될 확률이 높았음을 의미하며, 단일 모수 c 로 모형화됩니다.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38528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1691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종속변수 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기록이 train 에 배정될 확률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 기록 모두 test 에 잔류할 확률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 (하위)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 (중위)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 (상위)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28.57 %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897880" y="1938528"/>
            <a:ext cx="2926080" cy="1243584"/>
          </a:xfrm>
          <a:prstGeom prst="roundRect">
            <a:avLst>
              <a:gd name="adj" fmla="val 367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044184" y="20665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상대위험도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044184" y="23408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 배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2740660"/>
            <a:ext cx="2633472" cy="33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0.8 인 개체가 추정 대상(Z=0)으로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분류될 확률은 y = 0.2 인 개체의 1.32배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3310128"/>
            <a:ext cx="85039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02920" y="3346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표본과 추정 대상 표본의 분포 불일치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35844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사용되는 표본(train) 평균 y = 0.48    vs    추정 대상 표본(Z=0) 평균 y = 0.53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보정하지 않을 경우 1,548행 전체에서 체계적 과소추정이 발생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4169664"/>
            <a:ext cx="8503920" cy="694944"/>
          </a:xfrm>
          <a:prstGeom prst="roundRect">
            <a:avLst>
              <a:gd name="adj" fmla="val 7895"/>
            </a:avLst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02920" y="42062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 = 0.5 + c·(y − 0.5)  ,   P(y | Z) ∝ C(2,Z) · p(y)^Z · (1−p(y))^(2−Z)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45171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모수 c = −0.115 로 E[y|Z=2] = 0.4617 및 E[y|Z=1] = 0.5040 이 동시에 재현됨 (모형값 0.4611 / 0.5000) → v2 사전분포로 채택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역설계 — 방향을 뒤집다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하위가설 7개 중 통과한 것은 1개뿐이었습니다. 이 결과로는 가설을 다시 세워야 했습니다.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자료가 만들어진 절차를 거꾸로 추적하고, 추론의 방향도 뒤집었습니다.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4160520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 실패 — 회귀의 한계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31136"/>
            <a:ext cx="3794760" cy="329184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02920" y="223113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mean_working  →  y   함수를 직접 학습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633472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점추정치만 산출되어 추정의 불확실성이 소실됨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동일 개체의 복수 관측을 결합하는 원칙이 부재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지지집합 제약(구조적 불가능)의 표현 불가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MSE 기반 학습으로 조건부 평균을 추정 — 지표(MAE)와 불일치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83664"/>
            <a:ext cx="4160520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846320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역설계의 이점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31136"/>
            <a:ext cx="379476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846320" y="223113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→  mean_working   분포를 확인하고 역설계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633472"/>
            <a:ext cx="3794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101개 후보 전체에 대한 사후확률 산출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복수 관측의 결합이 우도의 곱으로 자연히 정의됨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관측되지 않은 영역에 확률 0이 자동 부여됨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사후 중앙값으로 MAE 최적 추정량을 직접 산출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03904"/>
            <a:ext cx="8503920" cy="749808"/>
          </a:xfrm>
          <a:prstGeom prst="roundRect">
            <a:avLst>
              <a:gd name="adj" fmla="val 7317"/>
            </a:avLst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57200" y="3858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 y | 관측 )   ∝   P(y | Z=0)  ×  P(mw_a | y)^τL  ×  P(mw_b | y)^τL  ×  P(sign Δdbp | y)^τS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후 누적확률 0.5 지점을 사후 중앙값으로 취하여 최종 추정량으로 사용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645152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02920" y="464515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유추 : 오차가 큰 계측기로 같은 대상을 2회 측정한 상황과 같음 — 측정값이 어떻게 흩어지는지를 먼저 배운 뒤 두 관측을 곱으로 합침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독립변수–종속변수의 관계 구조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27068"/>
            <a:ext cx="5641848" cy="3252978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deck/img/g1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281932"/>
            <a:ext cx="5532120" cy="31432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226350"/>
            <a:ext cx="2697480" cy="1168892"/>
          </a:xfrm>
          <a:prstGeom prst="roundRect">
            <a:avLst>
              <a:gd name="adj" fmla="val 39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5436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회귀의 한계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62868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구조의 부재</a:t>
            </a:r>
            <a:endParaRPr lang="en-US" sz="1064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903006"/>
            <a:ext cx="2404872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표본의 84%가 근로시간 7~10시간에 집중되며</a:t>
            </a:r>
            <a:endParaRPr lang="en-US" sz="860" dirty="0"/>
          </a:p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구간의 조건부 평균은 0.46~0.48로</a:t>
            </a:r>
            <a:endParaRPr lang="en-US" sz="860" dirty="0"/>
          </a:p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평균(0.482)과 실질적으로 동일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126480" y="2468394"/>
            <a:ext cx="2697480" cy="1029827"/>
          </a:xfrm>
          <a:prstGeom prst="roundRect">
            <a:avLst>
              <a:gd name="adj" fmla="val 444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59641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모형의 근거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87073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지지집합의 경계 존재</a:t>
            </a:r>
            <a:endParaRPr lang="en-US" sz="1064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3145050"/>
            <a:ext cx="2404872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근로시간 12시간 이상 77명은 전원 y ≥ 0.40,</a:t>
            </a:r>
            <a:endParaRPr lang="en-US" sz="860" dirty="0"/>
          </a:p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5시간 이하 25명은 전원 y &lt; 0.60 — 예외 0건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126480" y="3571373"/>
            <a:ext cx="2697480" cy="1029827"/>
          </a:xfrm>
          <a:prstGeom prst="roundRect">
            <a:avLst>
              <a:gd name="adj" fmla="val 444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699389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973709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경계는 확률의 언어</a:t>
            </a:r>
            <a:endParaRPr lang="en-US" sz="1064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248029"/>
            <a:ext cx="2404872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함수적 사상으로는 표현 불가한 제약이나</a:t>
            </a:r>
            <a:endParaRPr lang="en-US" sz="860" dirty="0"/>
          </a:p>
          <a:p>
            <a:pPr algn="l" indent="0" marL="0">
              <a:lnSpc>
                <a:spcPts val="1095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우도에서는 확률 0 부여로 직접 표현 가능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SPECIFICATION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 모형의 설정 및 초기 결과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343001"/>
            <a:ext cx="5641848" cy="2590499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deck/img/gA_text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397865"/>
            <a:ext cx="5532120" cy="248077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218644"/>
            <a:ext cx="2697480" cy="1085977"/>
          </a:xfrm>
          <a:prstGeom prst="roundRect">
            <a:avLst>
              <a:gd name="adj" fmla="val 421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4666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통상적 설정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62098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형태의 사전 고정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8953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정규분포를 참으로 전제하고 평균·분산만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추정하는 모수적(parametric) 접근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2432637"/>
            <a:ext cx="2697480" cy="901192"/>
          </a:xfrm>
          <a:prstGeom prst="roundRect">
            <a:avLst>
              <a:gd name="adj" fmla="val 50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560653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 모형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834973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~ N(8.229 + 1.022y, 1.601²)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3109293"/>
            <a:ext cx="2404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평균구조 + 등분산 가정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3461845"/>
            <a:ext cx="2697480" cy="1193292"/>
          </a:xfrm>
          <a:prstGeom prst="roundRect">
            <a:avLst>
              <a:gd name="adj" fmla="val 38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589861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결과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864181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MAE 0.24544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197937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LightGBM(0.2423) 대비 열위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모형이 아니라 우도의 분포 가정을 진단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DIAGNOSIS  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정규성 진단 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316126"/>
            <a:ext cx="5641848" cy="2744071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deck/img/gB_r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370990"/>
            <a:ext cx="5532120" cy="26343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205865"/>
            <a:ext cx="2697480" cy="1094232"/>
          </a:xfrm>
          <a:prstGeom prst="roundRect">
            <a:avLst>
              <a:gd name="adj" fmla="val 417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33881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1  경험적 규칙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608201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882521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정규분포라면 68 / 95 / 99.7 %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67.78 / 94.82 / 98.58 % · 편차 1 %p 이내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2428113"/>
            <a:ext cx="2697480" cy="1094232"/>
          </a:xfrm>
          <a:prstGeom prst="roundRect">
            <a:avLst>
              <a:gd name="adj" fmla="val 417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556129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2  적합도 검정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830449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3104769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정규분포라면 왜도 0 · 초과첨도 0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+0.706 / +1.941 · 편차 작아 그대로 사용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3650361"/>
            <a:ext cx="2697480" cy="1094232"/>
          </a:xfrm>
          <a:prstGeom prst="roundRect">
            <a:avLst>
              <a:gd name="adj" fmla="val 417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778377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3  Q-Q 그림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4052697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꼬리만 이탈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327017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정규분포라면 모든 점이 대각선 위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: 99 분위에서만 +1.49시간 이탈</a:t>
            </a:r>
            <a:endParaRPr lang="en-US" sz="950" dirty="0"/>
          </a:p>
        </p:txBody>
      </p:sp>
      <p:sp>
        <p:nvSpPr>
          <p:cNvPr id="21" name="Rounded Rectangle 20"/>
          <p:cNvSpPr/>
          <p:nvPr/>
        </p:nvSpPr>
        <p:spPr>
          <a:xfrm>
            <a:off x="320040" y="4169663"/>
            <a:ext cx="5641848" cy="640080"/>
          </a:xfrm>
          <a:prstGeom prst="roundRect">
            <a:avLst>
              <a:gd name="adj" fmla="val 7857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Shapiro-Wilk : 정규분포인지 판정하는 검정. p 가 작을수록 정규분포가 아니라는 뜻 (여기서는 1.4e−28)</a:t>
            </a:r>
          </a:p>
          <a:p>
            <a:pPr algn="l">
              <a:lnSpc>
                <a:spcPts val="125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역발상을 하지 않았다면 정규분포를 그대로 썼을 것 — 실제로 그렇게 해서 나온 것이 v2 의 CV 0.24544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DIAGNOSIS  II  ★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정규성 진단 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394480"/>
            <a:ext cx="5641848" cy="2296337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deck/img/gD_s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449344"/>
            <a:ext cx="5532120" cy="218660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240711"/>
            <a:ext cx="2697480" cy="1110742"/>
          </a:xfrm>
          <a:prstGeom prst="roundRect">
            <a:avLst>
              <a:gd name="adj" fmla="val 411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68727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등분산 가정 위배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643047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 : 1.298 → 1.944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917367"/>
            <a:ext cx="2404872" cy="3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: 다섯 구간 모두 1.601 로 동일</a:t>
            </a:r>
            <a:endParaRPr lang="en-US" sz="95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: 1.5배 변동 · Levene p = 1.5 × 10⁻⁵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2479469"/>
            <a:ext cx="2697480" cy="942467"/>
          </a:xfrm>
          <a:prstGeom prst="roundRect">
            <a:avLst>
              <a:gd name="adj" fmla="val 485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607485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대칭성 가정 위배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881805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왜도 : −0.38 → +1.08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3156125"/>
            <a:ext cx="2404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: 왜도 0 고정 · 실측 : 방향이 반대로 뒤집힘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3549952"/>
            <a:ext cx="2697480" cy="950722"/>
          </a:xfrm>
          <a:prstGeom prst="roundRect">
            <a:avLst>
              <a:gd name="adj" fmla="val 480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6779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지지집합의 이동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95228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[4, 11] → [7, 15]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226608"/>
            <a:ext cx="2404872" cy="16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구간 4~11시간 · 높은 구간 7~15시간</a:t>
            </a:r>
            <a:endParaRPr lang="en-US" sz="950" dirty="0"/>
          </a:p>
        </p:txBody>
      </p:sp>
      <p:sp>
        <p:nvSpPr>
          <p:cNvPr id="21" name="Rounded Rectangle 20"/>
          <p:cNvSpPr/>
          <p:nvPr/>
        </p:nvSpPr>
        <p:spPr>
          <a:xfrm>
            <a:off x="320040" y="3822191"/>
            <a:ext cx="5641848" cy="10058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95344"/>
            <a:ext cx="53035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0"/>
              </a:lnSpc>
            </a:pPr>
            <a:r>
              <a:rPr sz="880" b="1">
                <a:solidFill>
                  <a:srgbClr val="FFFFFF"/>
                </a:solidFill>
                <a:latin typeface="Calibri"/>
              </a:rPr>
              <a:t>표준편차 = 값이 평균에서 흩어진 정도 · 왜도 = 분포가 한쪽으로 치우친 정도(0이면 좌우대칭)</a:t>
            </a:r>
          </a:p>
          <a:p>
            <a:pPr algn="l">
              <a:lnSpc>
                <a:spcPts val="1200"/>
              </a:lnSpc>
            </a:pPr>
            <a:r>
              <a:rPr sz="880" b="1">
                <a:solidFill>
                  <a:srgbClr val="FFFFFF"/>
                </a:solidFill>
                <a:latin typeface="Calibri"/>
              </a:rPr>
              <a:t>가능 범위 = 실제로 관측된 근무시간의 최소~최대</a:t>
            </a:r>
          </a:p>
          <a:p>
            <a:pPr algn="l">
              <a:lnSpc>
                <a:spcPts val="1200"/>
              </a:lnSpc>
            </a:pPr>
            <a:r>
              <a:rPr sz="880" b="1">
                <a:solidFill>
                  <a:srgbClr val="FFFFFF"/>
                </a:solidFill>
                <a:latin typeface="Calibri"/>
              </a:rPr>
              <a:t>세 가정이 모두 깨져 평균만 움직이는 정규분포로는 담을 수 없다.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NONPARAMETRIC LIKELIHOOD  ★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우도 도입 — 가정한 분포 vs 실측 분포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318311"/>
            <a:ext cx="5641848" cy="273158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126480" y="1191990"/>
            <a:ext cx="2697480" cy="1035812"/>
          </a:xfrm>
          <a:prstGeom prst="roundRect">
            <a:avLst>
              <a:gd name="adj" fmla="val 44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2000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모형의 배분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59432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2.6 %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944592"/>
            <a:ext cx="2404872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≥ 12 구간에 부여된 확률질량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6126480" y="2300954"/>
            <a:ext cx="2697480" cy="957390"/>
          </a:xfrm>
          <a:prstGeom prst="roundRect">
            <a:avLst>
              <a:gd name="adj" fmla="val 477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42897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70329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건 / 837 명</a:t>
            </a:r>
            <a:endParaRPr lang="en-US" sz="1425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2977610"/>
            <a:ext cx="2404872" cy="17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&lt; 0.40 구간에서 mw ≥ 12 관측 0건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6126480" y="3331496"/>
            <a:ext cx="2697480" cy="1510220"/>
          </a:xfrm>
          <a:prstGeom prst="roundRect">
            <a:avLst>
              <a:gd name="adj" fmla="val 302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45951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우도 도입 결과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73383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5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0.24544 → 0.23850</a:t>
            </a:r>
            <a:endParaRPr lang="en-US" sz="1235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008152"/>
            <a:ext cx="2404872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형태 가정을 제거하고 실측 모양을 그대로 사용한 결과,</a:t>
            </a:r>
            <a:endParaRPr lang="en-US" sz="89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처음으로 부스팅 계열(LightGBM 0.2423)을 추월.</a:t>
            </a:r>
            <a:endParaRPr lang="en-US" sz="89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모형을 교체한 것이 아니라 우도 하나를 고친 결과임</a:t>
            </a:r>
            <a:endParaRPr lang="en-US" sz="890" dirty="0"/>
          </a:p>
        </p:txBody>
      </p:sp>
      <p:pic>
        <p:nvPicPr>
          <p:cNvPr id="21" name="Picture 20" descr="lik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373175"/>
            <a:ext cx="5532120" cy="26218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CONSTRUCTION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사후분포의 구성 및 추정량 산출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93076"/>
            <a:ext cx="5641848" cy="2875788"/>
          </a:xfrm>
          <a:prstGeom prst="roundRect">
            <a:avLst>
              <a:gd name="adj" fmla="val 1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deck/img/g5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347940"/>
            <a:ext cx="5532120" cy="27660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188720"/>
            <a:ext cx="2697480" cy="854939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72784" y="131673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72784" y="159105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격자의 설정</a:t>
            </a:r>
            <a:endParaRPr lang="en-US" sz="966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865376"/>
            <a:ext cx="2404872" cy="11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∈ {0.00, 0.01, …, 1.00}, 101개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6126480" y="2116811"/>
            <a:ext cx="2697480" cy="974319"/>
          </a:xfrm>
          <a:prstGeom prst="roundRect">
            <a:avLst>
              <a:gd name="adj" fmla="val 46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72784" y="2244827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519147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사전분포 × 우도항의 결합</a:t>
            </a:r>
            <a:endParaRPr lang="en-US" sz="966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2793467"/>
            <a:ext cx="240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수치적 하한초과(underflow) 방지를 위해</a:t>
            </a:r>
            <a:endParaRPr lang="en-US" sz="76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 후 합산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6126480" y="3164281"/>
            <a:ext cx="2697480" cy="854939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72784" y="3292297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3566617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</a:t>
            </a:r>
            <a:endParaRPr lang="en-US" sz="966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3840937"/>
            <a:ext cx="2404872" cy="11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101개 격자의 합이 1이 되도록 조정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6126480" y="4092372"/>
            <a:ext cx="2697480" cy="854939"/>
          </a:xfrm>
          <a:prstGeom prst="roundRect">
            <a:avLst>
              <a:gd name="adj" fmla="val 534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272784" y="42203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72784" y="449470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누적확률 0.5 지점의 선택</a:t>
            </a:r>
            <a:endParaRPr lang="en-US" sz="966" dirty="0"/>
          </a:p>
        </p:txBody>
      </p:sp>
      <p:sp>
        <p:nvSpPr>
          <p:cNvPr id="24" name="Text 21"/>
          <p:cNvSpPr txBox="1"/>
          <p:nvPr/>
        </p:nvSpPr>
        <p:spPr>
          <a:xfrm>
            <a:off x="6272784" y="4769028"/>
            <a:ext cx="2404872" cy="11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최소화 점추정량 = 사후 중앙값</a:t>
            </a:r>
            <a:endParaRPr lang="en-US" sz="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PROGRESSION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버전별 개선 경과 — v2 에서 방향이 잡혔다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521208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980944"/>
                <a:gridCol w="384048"/>
                <a:gridCol w="384048"/>
                <a:gridCol w="804672"/>
              </a:tblGrid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내용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기대 LB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 복원 + 비모수 커널 우도 (기본 구조)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분할편향 사전분포 P(y|Z=0)   ★ 전환점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우도 가중 τL = 1.15   (제출 · 실측 0.1230067)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표본을 train 전용으로 한정 (규정 준수)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sign(Δ이완기혈압) 우도항   (제출 · 실측 0.12264)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170432"/>
            <a:ext cx="3154680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669280" y="2999232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815584" y="31272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전환이 확인된 지점 — v2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815584" y="340156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 100% 변경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815584" y="3730752"/>
            <a:ext cx="286207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사전분포는 1,548개 사후분포 전체를 이동시킴 (−0.00115)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0" y="4133088"/>
            <a:ext cx="3154680" cy="841248"/>
          </a:xfrm>
          <a:prstGeom prst="roundRect">
            <a:avLst>
              <a:gd name="adj" fmla="val 543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5815584" y="42611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불변성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15584" y="4535424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교체 없음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15584" y="4864608"/>
            <a:ext cx="286207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이후 우도와 사전분포만 수정 — 모형 교체 0회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320040" y="35295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버전 대비 예측값 변경 (추정 대상 1,548행 기준)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3785616"/>
            <a:ext cx="1645920" cy="969264"/>
          </a:xfrm>
          <a:prstGeom prst="roundRect">
            <a:avLst>
              <a:gd name="adj" fmla="val 47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466344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66344" y="41879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1,548행 (100%)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" y="4480560"/>
            <a:ext cx="135331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사전분포 교체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084832" y="3785616"/>
            <a:ext cx="1645920" cy="969264"/>
          </a:xfrm>
          <a:prstGeom prst="roundRect">
            <a:avLst>
              <a:gd name="adj" fmla="val 47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2231136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→ v3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2231136" y="41879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666행 (43%)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2231136" y="4480560"/>
            <a:ext cx="135331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τL 미세 조정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849624" y="3785616"/>
            <a:ext cx="1645920" cy="969264"/>
          </a:xfrm>
          <a:prstGeom prst="roundRect">
            <a:avLst>
              <a:gd name="adj" fmla="val 47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3995928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→ v5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3995928" y="41879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944행 (61%)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3995928" y="4480560"/>
            <a:ext cx="135331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우도항 1개 추가</a:t>
            </a:r>
            <a:endParaRPr lang="en-US" sz="800" dirty="0"/>
          </a:p>
        </p:txBody>
      </p:sp>
      <p:pic>
        <p:nvPicPr>
          <p:cNvPr id="31" name="Picture 30" descr="lb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225296"/>
            <a:ext cx="3044952" cy="10836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규정 준수 설계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512064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17043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규정 : “모델 학습에서 평가 데이터셋 활용(Data Leakage) 시 수상 제외”   ·   회색지대 = 규정 문언으로 명확히 판단되지 않는 영역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10512"/>
          <a:ext cx="5349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63240"/>
                <a:gridCol w="6400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요소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데이터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우도표  P(mw | 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레코드 1,968개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우도표  P(sign Δ· | 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내부 중복쌍 774개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사전분포  P(y | Z)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종속변수 (Z 판정도 train 내부 쌍 유무로)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매칭 허용오차  TOL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내부 중복쌍에서 실측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초매개변수  τ, h, pk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개체 단위 교차검증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전처리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미수행 — 원시값 사용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추정 대상 행의 피처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test.csv (추정에 필수)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897880" y="1810512"/>
            <a:ext cx="2926080" cy="969264"/>
          </a:xfrm>
          <a:prstGeom prst="roundRect">
            <a:avLst>
              <a:gd name="adj" fmla="val 47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044184" y="19385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회색지대 ①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044184" y="22128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복원 (Record Linkage)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2542032"/>
            <a:ext cx="263347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으로만 학습한 1-NN 분류기를 test 행에 적용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97880" y="2907792"/>
            <a:ext cx="2926080" cy="969264"/>
          </a:xfrm>
          <a:prstGeom prst="roundRect">
            <a:avLst>
              <a:gd name="adj" fmla="val 47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044184" y="3035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회색지대 ②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044184" y="33101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전이적 추론 (Transductive)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44184" y="3639312"/>
            <a:ext cx="263347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단계에서 test 피처를 함께 사용. 이를 배제한 strict 버전도 준비 (비용 0.0032)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4133088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57200" y="416966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미수행의 타당성 — 대조 실험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8912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 방식만 변경한 5-fold 개체 단위 교차검증 결과, 중앙값 대치 시 CV MAE 0.23640 → 0.23733 으로 악화</a:t>
            </a:r>
            <a:endParaRPr lang="en-US" sz="82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0.00118) — 확률 모형에서 결측은 해당 우도항의 생략으로 정확히 처리되므로 대치는 미관측 정보의 생성에 해당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897880" y="4133088"/>
            <a:ext cx="2926080" cy="73152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044184" y="4261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누수(Data Leakage) 경로 자체가 없음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044184" y="4590288"/>
            <a:ext cx="263347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단계가 존재하지 않기 때문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4572000" cy="45720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1280160"/>
            <a:ext cx="3840480" cy="3840480"/>
          </a:xfrm>
          <a:prstGeom prst="ellipse">
            <a:avLst/>
          </a:prstGeom>
          <a:solidFill>
            <a:srgbClr val="2563EB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5486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207008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04672" y="120700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설정 · 검증 · 실패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12070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16개 중 종속변수와 유의한 관계를 가진 것은 1개 — 하위가설 7개 중 통과 1개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40080" y="1956816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04672" y="195681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데이터에 대한 의심 — 전환점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9568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모형을 교체하는 대신 생성 절차를 역설계 — 중복 레코드 · 분할 편향 · 기록 순서 3종 복원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2706624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04672" y="27066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43584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가설 — 비모수 우도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27066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“P(mw|y) 는 정규분포가 아니라 데이터에 나타난 모양 그대로다” — 분포의 형태를 미리 정하지 않고 커널로 직접 추정 (비모수)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" y="3456432"/>
            <a:ext cx="7863840" cy="658368"/>
          </a:xfrm>
          <a:prstGeom prst="roundRect">
            <a:avLst>
              <a:gd name="adj" fmla="val 6944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04672" y="34564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345643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모형이 아니라 구조를 바꿨다 — v2 에서 방향이 잡혔고, 우도를 의심한 것이 부스팅을 넘어선 지점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0080" y="4261104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0F2A4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04672" y="42611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제출본 v5   ·   Public MAE 0.12264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18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718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 프린트("4조")    김종민 · 배수빈 · 한승수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TERMINOLOGY —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용어 정의 ① — 가설 및 변수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457200"/>
          </a:xfrm>
          <a:prstGeom prst="roundRect">
            <a:avLst>
              <a:gd name="adj" fmla="val 11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가설 설정과 검정에 쓰이는 용어를 먼저 정의합니다. 처음 등장하는 장 번호를 함께 표기했습니다.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47088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892807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종속변수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103120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Dependent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1847088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추정 대상. stress_score 1개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3" y="1847088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5장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1" y="1847088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7" y="1892807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독립변수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7" y="2103120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Independent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5" y="1847088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추정에 쓰는 관측 변수 16개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6장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414016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45973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가설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267004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9384" y="2414016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검정 가능한 형태로 진술한 잠정 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2503" y="2414016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8장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9431" y="2414016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7" y="245973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귀무가설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7" y="267004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Null Hypothesis  H₀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5" y="2414016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“연관이 없다” — 기각 대상이 되는 기준 진술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414016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9장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2980944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3026663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매개변수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" y="323697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Mediator · Parameter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9384" y="2980944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인과 경로의 중간 변수 / 모형이 가진 숫자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3" y="2980944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7장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9431" y="2980944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7447" y="3026663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잠재변수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7" y="323697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Latent Variable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5" y="2980944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기록되어 있지 않으나 구조로부터 복원되는 변수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2980944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7장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3547872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" y="3593591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순열검정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380390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Permutation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9384" y="3547872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라벨을 무작위로 섞어 우연 수준을 직접 계산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2503" y="3547872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10장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99431" y="3547872"/>
            <a:ext cx="4224528" cy="493776"/>
          </a:xfrm>
          <a:prstGeom prst="roundRect">
            <a:avLst>
              <a:gd name="adj" fmla="val 101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7447" y="3593591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다중검정 보정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7447" y="380390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Calibri"/>
              </a:rPr>
              <a:t>Multiple 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5" y="3547872"/>
            <a:ext cx="2084831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</a:pPr>
            <a:r>
              <a:rPr sz="830" b="0">
                <a:solidFill>
                  <a:srgbClr val="334155"/>
                </a:solidFill>
                <a:latin typeface="Calibri"/>
              </a:rPr>
              <a:t>후보를 여럿 검정할 때 기준을 높이는 절차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6" y="3547872"/>
            <a:ext cx="38404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Calibri"/>
              </a:rPr>
              <a:t>▸ 9장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4224528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가설은 기각 가능한 형태로 진술해야 검정이 성립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224528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확률 모형 용어는 다음 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INDEPENDENT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독립변수 16개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16개 변수를 값의 형태에 따라 수치형 9개 · 범주형 7개로 나누었습니다. 검정 방법이 다르기 때문입니다.</a:t>
            </a:r>
          </a:p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가설 설정 전에 각 변수와 종속변수의 관계를 전부 산출하였습니다.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10512"/>
            <a:ext cx="4206240" cy="2779776"/>
          </a:xfrm>
          <a:prstGeom prst="roundRect">
            <a:avLst>
              <a:gd name="adj" fmla="val 180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865376"/>
            <a:ext cx="39502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수치형  9개   NUMERIC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084831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신체 계측 4 (age · height · weight · bone_density) · 건강검진 4 · 근로 1</a:t>
            </a:r>
          </a:p>
          <a:p>
            <a:pPr algn="l">
              <a:lnSpc>
                <a:spcPts val="110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값의 크기가 의미를 갖는 측정값 → Pearson 상관계수 r 로 검정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48056" y="2468880"/>
          <a:ext cx="3950208" cy="2029960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1572768"/>
                <a:gridCol w="1664208"/>
                <a:gridCol w="713232"/>
              </a:tblGrid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변수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1E293B"/>
                          </a:solidFill>
                          <a:latin typeface="Calibri"/>
                        </a:rPr>
                        <a:t>mean_working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근로 · 4~16 정수 · 결측 다수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1">
                          <a:solidFill>
                            <a:srgbClr val="2563EB"/>
                          </a:solidFill>
                          <a:latin typeface="Calibri"/>
                        </a:rPr>
                        <a:t>+0.1834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EFF6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diastolic_blood_pressure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건강검진 · 이완기 혈압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+0.0254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cholesterol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건강검진 · 총콜레스테롤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+0.0213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bone_density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신체 계측 · 골밀도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−0.0226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신체 계측 · 연령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+0.0187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systolic_blood_pressure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건강검진 · 수축기 혈압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+0.0156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신체 계측 · 체중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+0.0113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glucose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건강검진 · 공복 혈당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−0.0061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height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신체 계측 · 신장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−0.0057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617720" y="1810512"/>
            <a:ext cx="4206240" cy="2779776"/>
          </a:xfrm>
          <a:prstGeom prst="roundRect">
            <a:avLst>
              <a:gd name="adj" fmla="val 180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865376"/>
            <a:ext cx="39502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alibri"/>
              </a:rPr>
              <a:t>범주형  7개   CATEGORICAL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084831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생활습관 3 (activity · sleep_pattern · smoke_status) · 병력 2 · 인구통계 2</a:t>
            </a:r>
          </a:p>
          <a:p>
            <a:pPr algn="l">
              <a:lnSpc>
                <a:spcPts val="110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코드값이라 크기 비교가 무의미 → 라벨 순열검정(10,000회)으로 검정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45736" y="2468880"/>
          <a:ext cx="3950208" cy="1623968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1572768"/>
                <a:gridCol w="1664208"/>
                <a:gridCol w="713232"/>
              </a:tblGrid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변수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1">
                          <a:solidFill>
                            <a:srgbClr val="334155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생활습관 · 활동량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sleep_pattern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생활습관 · 수면 패턴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smoke_status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생활습관 · 흡연 상태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medical_history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병력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family_medical_history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가족 병력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인구통계 · 성별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02996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edu_level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인구통계 · 학력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80" b="0">
                          <a:solidFill>
                            <a:srgbClr val="3341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745736" y="4187952"/>
            <a:ext cx="3950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50"/>
              </a:lnSpc>
            </a:pPr>
            <a:r>
              <a:rPr sz="760" b="0">
                <a:solidFill>
                  <a:srgbClr val="94A3B8"/>
                </a:solidFill>
                <a:latin typeface="Calibri"/>
              </a:rPr>
              <a:t>· 7개 변수 전체를 묶어 수행한 순열검정의 공통 p값</a:t>
            </a:r>
          </a:p>
          <a:p>
            <a:pPr algn="l">
              <a:lnSpc>
                <a:spcPts val="1050"/>
              </a:lnSpc>
            </a:pPr>
            <a:r>
              <a:rPr sz="760" b="0">
                <a:solidFill>
                  <a:srgbClr val="94A3B8"/>
                </a:solidFill>
                <a:latin typeface="Calibri"/>
              </a:rPr>
              <a:t>· p = 0.433 → 라벨을 무작위로 섞어도 43% 확률로 나오는 신호 = 정보량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수치형 9개 중 8개가 |r| &lt; 0.03 · 범주형 7개는 p = 0.433 — 유일한 신호는 mean_working (r = +0.1834)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5720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결측 : mean_working test 1,008행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VARIABLE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변수 설계 — 매개변수 · 잠재변수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“매개변수”는 인과 경로의 중간 변수(mediator)와 모형이 가진 숫자(parameter) 두 가지를 가리킵니다.</a:t>
            </a:r>
          </a:p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초매개변수는 parameter의 하위 개념입니다.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83664"/>
            <a:ext cx="4160520" cy="1170432"/>
          </a:xfrm>
          <a:prstGeom prst="roundRect">
            <a:avLst>
              <a:gd name="adj" fmla="val 429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01168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매개변수 ①   MEDIATOR — 인과 경로의 중간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228600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1">
                <a:solidFill>
                  <a:srgbClr val="1E293B"/>
                </a:solidFill>
                <a:latin typeface="Calibri"/>
              </a:rPr>
              <a:t>분석 미수행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578608"/>
            <a:ext cx="38679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매개 분석은 X–y 간 관계의 존재를 전제로 함. 본 자료는 그 전제가</a:t>
            </a:r>
          </a:p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성립하지 않아(순열검정 p = 0.433) 매개할 효과 자체가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83664"/>
            <a:ext cx="4160520" cy="1170432"/>
          </a:xfrm>
          <a:prstGeom prst="roundRect">
            <a:avLst>
              <a:gd name="adj" fmla="val 4296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01168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잠재변수   LATENT — 기록되지 않은 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8600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1">
                <a:solidFill>
                  <a:srgbClr val="1E293B"/>
                </a:solidFill>
                <a:latin typeface="Calibri"/>
              </a:rPr>
              <a:t>2개 — Z · 기록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578608"/>
            <a:ext cx="38679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Z : 한 개체의 기록 2개 중 train 에 포함된 개수 (0 / 1 / 2)</a:t>
            </a:r>
          </a:p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기록 순서 : 파일 내 선행 / 후행 → 본 해법의 실질적 주인공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163824"/>
            <a:ext cx="8503920" cy="1316736"/>
          </a:xfrm>
          <a:prstGeom prst="roundRect">
            <a:avLst>
              <a:gd name="adj" fmla="val 3819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186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alibri"/>
              </a:rPr>
              <a:t>매개변수 ②   PARAMETER — 모형이 가진 숫자  (이 안에 초매개변수가 들어 있음)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93008"/>
            <a:ext cx="4023360" cy="896112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547872"/>
            <a:ext cx="3730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학습되는 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749039"/>
            <a:ext cx="37307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약 8,600개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4023360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5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우도표 3종 + 사전분포의 칸 값 — 데이터를 세어서</a:t>
            </a:r>
          </a:p>
          <a:p>
            <a:pPr algn="l">
              <a:lnSpc>
                <a:spcPts val="105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채운 도수표이며 별도의 모형 구조가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493008"/>
            <a:ext cx="4023360" cy="896112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3547872"/>
            <a:ext cx="3730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Calibri"/>
              </a:rPr>
              <a:t>★ 초매개변수  HYPERPARAMETER — 사람이 정하는 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749039"/>
            <a:ext cx="37307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6개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4023360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5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τL · τS (우도 가중) · c (분할편향) · h · pk (커널)</a:t>
            </a:r>
          </a:p>
          <a:p>
            <a:pPr algn="l">
              <a:lnSpc>
                <a:spcPts val="1050"/>
              </a:lnSpc>
            </a:pPr>
            <a:r>
              <a:rPr sz="800" b="0">
                <a:solidFill>
                  <a:srgbClr val="334155"/>
                </a:solidFill>
                <a:latin typeface="Calibri"/>
              </a:rPr>
              <a:t>· TOL (매칭 허용오차)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독립변수 16 · 종속변수 1 · 매개변수 0 · 잠재변수 2 · 파라미터 8,600 (그중 초매개변수 6) · 전처리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가설 설정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제공된 변수 구성과 직업건강 분야의 일반적 전제에서 세 개의 가설을 세웠습니다.</a:t>
            </a:r>
          </a:p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가설 검정은 변수 단위로 수행되므로 각 가설을 변수별 하위가설 7개로 분해하였습니다.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83664"/>
            <a:ext cx="4160520" cy="283464"/>
          </a:xfrm>
          <a:prstGeom prst="roundRect">
            <a:avLst>
              <a:gd name="adj" fmla="val 17741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883664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가설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1883664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근로 요인이 스트레스와 연관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2199132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99132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A-1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219913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근로시간 ↑ → 스트레스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99132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mean_working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2514600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A-2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251460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근로시간 → 수면의 질 ↓ → 스트레스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514600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sleep_pattern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830068"/>
            <a:ext cx="4160520" cy="283464"/>
          </a:xfrm>
          <a:prstGeom prst="roundRect">
            <a:avLst>
              <a:gd name="adj" fmla="val 17741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830068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가설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" y="2830068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생활습관이 신체 상태를 거쳐 연관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" y="3145536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45536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B-1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7864" y="3145536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활동량 ↓ → 스트레스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145536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" y="3461004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61004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B-2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7864" y="346100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흡연 ↑ → 스트레스 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461004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smoke_status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1883664"/>
            <a:ext cx="4160520" cy="283464"/>
          </a:xfrm>
          <a:prstGeom prst="roundRect">
            <a:avLst>
              <a:gd name="adj" fmla="val 17741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5" y="1883664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가설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1883664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대사지표가 스트레스와 상호 연관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01183" y="2199132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2199132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C-1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219913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혈압 ↑ ↕ 스트레스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199132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sbp · dbp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01183" y="2514600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2514600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C-2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251460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혈당 ↑ ↕ 스트레스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514600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glucose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01183" y="2830068"/>
            <a:ext cx="3922776" cy="283464"/>
          </a:xfrm>
          <a:prstGeom prst="roundRect">
            <a:avLst>
              <a:gd name="adj" fmla="val 1774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2830068"/>
            <a:ext cx="4754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EA580C"/>
                </a:solidFill>
                <a:latin typeface="Calibri"/>
              </a:rPr>
              <a:t>C-3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2830068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>
                <a:solidFill>
                  <a:srgbClr val="334155"/>
                </a:solidFill>
                <a:latin typeface="Calibri"/>
              </a:rPr>
              <a:t>지질 ↑ ↕ 스트레스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830068"/>
            <a:ext cx="9235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>
                <a:solidFill>
                  <a:srgbClr val="94A3B8"/>
                </a:solidFill>
                <a:latin typeface="Calibri"/>
              </a:rPr>
              <a:t>cholesterol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4023360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023360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하위가설 7개가 모두 기각될 경우 자료 생성 구조를 검토한다 — 가설 검정 전에 정의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THE PIVOT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전환점 — 모형이 아니라 데이터를 의심했다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가설 검정이 실패한 시점의 선택지는 두 가지였습니다.</a:t>
            </a:r>
          </a:p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더 많은 모형 · 더 많은 실험    vs    자료를 의심하고 처음부터 재설계   —   저희 팀은 후자를 선택했습니다.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83664"/>
            <a:ext cx="4160520" cy="1133856"/>
          </a:xfrm>
          <a:prstGeom prst="roundRect">
            <a:avLst>
              <a:gd name="adj" fmla="val 443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01168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선택지 ①   더 많은 모형 · 더 많은 실험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228600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1">
                <a:solidFill>
                  <a:srgbClr val="1E293B"/>
                </a:solidFill>
                <a:latin typeface="Calibri"/>
              </a:rPr>
              <a:t>모형 추가 · 초매개변수 탐색 · 앙상블 · 실험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578608"/>
            <a:ext cx="38679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상한이 이미 관측됨 — LightGBM 0.2423,</a:t>
            </a:r>
          </a:p>
          <a:p>
            <a:pPr algn="l">
              <a:lnSpc>
                <a:spcPts val="1305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상수 예측 대비 개선폭 0.0071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83664"/>
            <a:ext cx="4160520" cy="1133856"/>
          </a:xfrm>
          <a:prstGeom prst="roundRect">
            <a:avLst>
              <a:gd name="adj" fmla="val 4435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01168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alibri"/>
              </a:rPr>
              <a:t>선택지 ②   본 팀의 선택 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86000"/>
            <a:ext cx="386791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자료를 의심하고 생성 구조를 역설계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578608"/>
            <a:ext cx="38679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모델링을 중단하고 6,000행을 전수 비교</a:t>
            </a:r>
          </a:p>
          <a:p>
            <a:pPr algn="l">
              <a:lnSpc>
                <a:spcPts val="1305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→ 생성 절차의 흔적 3종을 복원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127248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6382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의심의 근거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자연 관측이라면 r = 0.05~0.15 수준의 약한 관계가 여러 변수에 걸쳐 나타난다. 그런데 mean_working 하나만 r = 0.18이고 나머지 15개가 |r| &lt; 0.03.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840480"/>
            <a:ext cx="8503920" cy="566928"/>
          </a:xfrm>
          <a:prstGeom prst="roundRect">
            <a:avLst>
              <a:gd name="adj" fmla="val 8870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77056"/>
            <a:ext cx="8046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전환된 가설 :  본 자료는 특정 절차로 생성된 합성 자료이며,</a:t>
            </a:r>
          </a:p>
          <a:p>
            <a:pPr algn="l">
              <a:lnSpc>
                <a:spcPts val="15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생성 절차의 흔적이 자료 내에 잔존한다.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517136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17136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“관계가 약하다”가 아니라 “연결되지 않았다” — 회귀에서 역설계로의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17136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이후 v1~v5는 동일 틀 내의 정보 추가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LIKELIHOOD TABLE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우도표 — 구간별 도수표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60350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학습한 것은 모형 가중치가 아니라 스트레스 지수 구간별 근무시간 도수표입니다.</a:t>
            </a:r>
          </a:p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열 방향 정규화가 곧 우도 P(mean_working | y) — 별도의 모형 구조는 없습니다.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901952"/>
          <a:ext cx="8502086" cy="1344168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822960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</a:tblGrid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y \ mw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334155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93B"/>
                          </a:solidFill>
                          <a:latin typeface="Calibri"/>
                        </a:rPr>
                        <a:t>0.0–0.2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93B"/>
                          </a:solidFill>
                          <a:latin typeface="Calibri"/>
                        </a:rPr>
                        <a:t>0.2–0.4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93B"/>
                          </a:solidFill>
                          <a:latin typeface="Calibri"/>
                        </a:rPr>
                        <a:t>0.4–0.6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93B"/>
                          </a:solidFill>
                          <a:latin typeface="Calibri"/>
                        </a:rPr>
                        <a:t>0.6–0.8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93B"/>
                          </a:solidFill>
                          <a:latin typeface="Calibri"/>
                        </a:rPr>
                        <a:t>0.8–1.0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563E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9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91840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train 레코드 1,968개 기준 실측 도수 (발표용 5구간 요약 · 실제 우도표는 101 × 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584448"/>
            <a:ext cx="2706624" cy="877824"/>
          </a:xfrm>
          <a:prstGeom prst="roundRect">
            <a:avLst>
              <a:gd name="adj" fmla="val 5729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371246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991B1B"/>
                </a:solidFill>
                <a:latin typeface="Calibri"/>
              </a:rPr>
              <a:t>붉은 칸 — 데이터 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398678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계단형 지지집합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4279392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확률 0 을 직접 부여할 수 있는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2112" y="3584448"/>
            <a:ext cx="2706624" cy="877824"/>
          </a:xfrm>
          <a:prstGeom prst="roundRect">
            <a:avLst>
              <a:gd name="adj" fmla="val 5729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371246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Calibri"/>
              </a:rPr>
              <a:t>모수 모형의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398678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해당 칸에 2.6% 배분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4279392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없는 자리에 확률질량을 나눠 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4184" y="3584448"/>
            <a:ext cx="2706624" cy="877824"/>
          </a:xfrm>
          <a:prstGeom prst="roundRect">
            <a:avLst>
              <a:gd name="adj" fmla="val 5729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71246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비모수 우도의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986783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5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실측 모양 그대로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4279392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유효 영역의 확률이 그만큼 커짐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645152"/>
            <a:ext cx="8503920" cy="438912"/>
          </a:xfrm>
          <a:prstGeom prst="roundRect">
            <a:avLst>
              <a:gd name="adj" fmla="val 11458"/>
            </a:avLst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45152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Calibri"/>
              </a:rPr>
              <a:t>구간 내부는 균질(p = 0.595 / 0.862 / 0.243), 구간 사이는 유의하게 상이(p &lt; 0.001)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45152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종 모양이 아닌 계단 구조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THREE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가설의 3단계 — 무엇을 의심했고 어떤 가설을 새로 세웠나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52144"/>
            <a:ext cx="8503920" cy="457200"/>
          </a:xfrm>
          <a:prstGeom prst="roundRect">
            <a:avLst>
              <a:gd name="adj" fmla="val 11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9786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가설을 세 번 세웠습니다. 1차는 기각되었고, 그 기각이 2차 가설을, 2차의 한계가 3차 가설을 불렀습니다.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755648"/>
          <a:ext cx="8503920" cy="1609344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1051560"/>
                <a:gridCol w="2103120"/>
                <a:gridCol w="2880360"/>
                <a:gridCol w="24688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334155"/>
                          </a:solidFill>
                          <a:latin typeface="Calibri"/>
                        </a:rPr>
                        <a:t>단계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334155"/>
                          </a:solidFill>
                          <a:latin typeface="Calibri"/>
                        </a:rPr>
                        <a:t>의심한 것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334155"/>
                          </a:solidFill>
                          <a:latin typeface="Calibri"/>
                        </a:rPr>
                        <a:t>새로 세운 가설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334155"/>
                          </a:solidFill>
                          <a:latin typeface="Calibri"/>
                        </a:rPr>
                        <a:t>결과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1차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독립변수가 종속변수를 설명한다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기각 — 하위가설 7개 중 통과 1개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2563EB"/>
                          </a:solidFill>
                          <a:latin typeface="Calibri"/>
                        </a:rPr>
                        <a:t>2차
(전환점)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자료가 자연 관측이라는 전제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자료는 합성이며 생성 흔적이 남아 있다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채택 — 중복 774쌍 · 분할 편향 · 기록 순서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EA580C"/>
                          </a:solidFill>
                          <a:latin typeface="Calibri"/>
                        </a:rPr>
                        <a:t>3차
(비모수 우도)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334155"/>
                          </a:solidFill>
                          <a:latin typeface="Calibri"/>
                        </a:rPr>
                        <a:t>우도 P(mw|y) 가 정규분포라는 가정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분포의 형태를 정하지 말고 데이터에 나타난 모양을 그대로 쓴다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채택 — 등분산 · 대칭성 · 지지집합 모두 기각</a:t>
                      </a:r>
                    </a:p>
                  </a:txBody>
                  <a:tcPr marL="64008" marR="64008" marT="18288" marB="18288" anchor="ctr">
                    <a:lnB w="6350" cap="flat" cmpd="sng" algn="ctr">
                      <a:solidFill>
                        <a:srgbClr val="E2E8F0"/>
                      </a:solidFill>
                    </a:lnB>
                    <a:lnT w="6350" cap="flat" cmpd="sng" algn="ctr">
                      <a:solidFill>
                        <a:srgbClr val="E2E8F0"/>
                      </a:solidFill>
                    </a:lnT>
                    <a:lnR w="6350" cap="flat" cmpd="sng" algn="ctr">
                      <a:solidFill>
                        <a:srgbClr val="E2E8F0"/>
                      </a:solidFill>
                    </a:lnR>
                    <a:lnL w="6350" cap="flat" cmpd="sng" algn="ctr">
                      <a:solidFill>
                        <a:srgbClr val="E2E8F0"/>
                      </a:solidFill>
                    </a:lnL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20040" y="3493008"/>
            <a:ext cx="8503920" cy="457200"/>
          </a:xfrm>
          <a:prstGeom prst="roundRect">
            <a:avLst>
              <a:gd name="adj" fmla="val 11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930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비모수 (nonparametric) — 정규분포 같은 분포의 형태를 미리 정하지 않고, 데이터에서 모양을 직접 추정하는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23360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3차 가설을 적용해서 바뀐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242816"/>
            <a:ext cx="2706624" cy="731520"/>
          </a:xfrm>
          <a:prstGeom prst="roundRect">
            <a:avLst>
              <a:gd name="adj" fmla="val 687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4370831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① 분포 형태 가정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4645151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정규분포 대신 커널로 실측 모양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2112" y="4242816"/>
            <a:ext cx="2706624" cy="731520"/>
          </a:xfrm>
          <a:prstGeom prst="roundRect">
            <a:avLst>
              <a:gd name="adj" fmla="val 687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4370831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② 미관측 구간 확률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4645151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없는 자리에 가던 2.6% 가 유효 구간으로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4184" y="4242816"/>
            <a:ext cx="2706624" cy="731520"/>
          </a:xfrm>
          <a:prstGeom prst="roundRect">
            <a:avLst>
              <a:gd name="adj" fmla="val 6874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4370831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③ 성능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645151"/>
            <a:ext cx="2414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334155"/>
                </a:solidFill>
                <a:latin typeface="Calibri"/>
              </a:rPr>
              <a:t>CV 0.24544 → 0.23850 · 부스팅 추월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0" y="-1188720"/>
            <a:ext cx="4206240" cy="4206240"/>
          </a:xfrm>
          <a:prstGeom prst="ellipse">
            <a:avLst/>
          </a:prstGeom>
          <a:solidFill>
            <a:srgbClr val="1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2651760"/>
            <a:ext cx="3840480" cy="3840480"/>
          </a:xfrm>
          <a:prstGeom prst="ellipse">
            <a:avLst/>
          </a:prstGeom>
          <a:solidFill>
            <a:srgbClr val="1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3182112"/>
            <a:ext cx="82296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01568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스트레스 지수 예측 AI 해커톤</dc:title>
  <dc:subject>PptxGenJS Presentation</dc:subject>
  <dc:creator>프린트("4조")</dc:creator>
  <cp:lastModifiedBy>프린트("4조")</cp:lastModifiedBy>
  <cp:revision>1</cp:revision>
  <dcterms:created xsi:type="dcterms:W3CDTF">2026-09-15T14:44:31Z</dcterms:created>
  <dcterms:modified xsi:type="dcterms:W3CDTF">2026-09-15T14:44:31Z</dcterms:modified>
</cp:coreProperties>
</file>